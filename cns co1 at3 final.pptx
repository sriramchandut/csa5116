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C624DF-1232-49E0-9709-E2408F07901A}" v="2" dt="2026-10-10T07:11:12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ramchandutanniru9@hotmail.com" userId="38303d1571f71b53" providerId="LiveId" clId="{1BC52FD8-8CCC-4C92-8163-B04C5B414E5B}"/>
    <pc:docChg chg="custSel modSld">
      <pc:chgData name="sriramchandutanniru9@hotmail.com" userId="38303d1571f71b53" providerId="LiveId" clId="{1BC52FD8-8CCC-4C92-8163-B04C5B414E5B}" dt="2026-10-10T07:13:09.011" v="122" actId="478"/>
      <pc:docMkLst>
        <pc:docMk/>
      </pc:docMkLst>
      <pc:sldChg chg="addSp delSp modSp mod">
        <pc:chgData name="sriramchandutanniru9@hotmail.com" userId="38303d1571f71b53" providerId="LiveId" clId="{1BC52FD8-8CCC-4C92-8163-B04C5B414E5B}" dt="2026-10-10T07:13:09.011" v="122" actId="478"/>
        <pc:sldMkLst>
          <pc:docMk/>
          <pc:sldMk cId="1943768635" sldId="256"/>
        </pc:sldMkLst>
        <pc:spChg chg="add mod">
          <ac:chgData name="sriramchandutanniru9@hotmail.com" userId="38303d1571f71b53" providerId="LiveId" clId="{1BC52FD8-8CCC-4C92-8163-B04C5B414E5B}" dt="2026-10-10T07:08:36.582" v="120" actId="1076"/>
          <ac:spMkLst>
            <pc:docMk/>
            <pc:sldMk cId="1943768635" sldId="256"/>
            <ac:spMk id="2" creationId="{EF2A9B74-6178-374A-5D5C-BF357F2E262B}"/>
          </ac:spMkLst>
        </pc:spChg>
        <pc:spChg chg="add del mod">
          <ac:chgData name="sriramchandutanniru9@hotmail.com" userId="38303d1571f71b53" providerId="LiveId" clId="{1BC52FD8-8CCC-4C92-8163-B04C5B414E5B}" dt="2026-10-10T07:13:09.011" v="122" actId="478"/>
          <ac:spMkLst>
            <pc:docMk/>
            <pc:sldMk cId="1943768635" sldId="256"/>
            <ac:spMk id="3" creationId="{33E5DFD0-A096-D6D0-4155-FED39269C2F0}"/>
          </ac:spMkLst>
        </pc:spChg>
        <pc:spChg chg="mod">
          <ac:chgData name="sriramchandutanniru9@hotmail.com" userId="38303d1571f71b53" providerId="LiveId" clId="{1BC52FD8-8CCC-4C92-8163-B04C5B414E5B}" dt="2026-10-10T07:05:40.214" v="0" actId="1076"/>
          <ac:spMkLst>
            <pc:docMk/>
            <pc:sldMk cId="1943768635" sldId="256"/>
            <ac:spMk id="5" creationId="{42D39638-1B03-D875-B2C8-4E160879E1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B2D1-E195-D95A-021E-12365E16B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0EE58-67BE-6CA3-9D1B-8E29568D9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4A5BA-5D19-881A-789B-7B61A03E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A1EFE-2F8F-70F5-FB09-B4580211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2C62D-6E54-0576-C86F-45F21A2E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717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CB83-A99F-927C-F7CF-7B7246B5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7ECE2-0060-0189-92EB-CE6C21C77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85588-ABA1-9C49-8BB1-A5249AE2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361AB-8A04-1DBB-B8A4-23A16B9F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C413C-A6EA-534C-B558-AC783EC8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537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CADD-441F-822D-7754-D4607092C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45F2D-7DFB-0619-1CFD-AC8A2E8A1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A5562-FE0A-CC25-A2A2-76A0794F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DA488-6D4C-B26F-3872-BCD35287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81E0-9822-C373-738F-30C789C8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019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54E24-48E7-23A5-CFC3-2013CE213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3C8BC-D345-278E-1BA5-31D58D871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90B13-BC93-6517-3BBA-2596246FF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4BDEC-A918-4D23-33EE-EEE2E53C4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53EA6-1E67-E901-EC59-46C5D7A0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D72D4-B6F4-8ECA-FE35-79997A4E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7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6A46-1705-AA54-53C5-2EC6C361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8ECD6-8273-E240-8568-030225A98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D6F6A-ABA1-E868-42FF-2D5FE920C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D35092-C1FC-DBB4-06F7-B7D281FDB7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478120-7525-A1A7-5522-E49EFEBCC0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A267DE-CD61-E012-6784-AA0D63CE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C4DA96-D29D-7560-C1B7-98473E0A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B637B3-45F3-E84A-10BA-D3F889E5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6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C2CB-34BB-55D0-C97E-D2C4BFE5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EAD43-8B3E-F04C-D275-898F2F41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165C9-63E7-A7AC-1E75-AF18707F8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CFBDE-E0D9-B28C-A651-960D9A1C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01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6847A-CB00-A1B0-DF1F-32E1801E4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DE960-EE5B-036D-DD07-10ED05D8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C0A0-D5B2-80EB-5AB4-EA15A81D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19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5BB6-7D8A-5F68-036C-831E0042D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D78C-BF13-96E6-9836-C7C3326D3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6EEF4-66E7-A473-33A4-A55350ED8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B5ED4-6753-7185-C1F8-985E966EF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5E912-5BE2-11C0-B3FD-91DC782F5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B529B-70DE-9D4E-C3B6-4ACBF923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474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88875-D3F2-E320-23E6-F0FC95BD5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5BC4B2-7E8B-F799-EB21-D4F21DFAA0E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B800F-77EA-B218-A411-B4B4BF949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D33E2-5DE2-5FA0-B04D-E61D2B7B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33DE9-085D-170C-9EF6-892DA2C1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1311F-1166-8C72-4A80-ADFCE029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270E5-F2DB-0FA2-7242-1A7B4CCFC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D8C69-7331-CE56-F8F5-E264AA728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8EF34-47AE-84E2-3003-E2AD8A6A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7CED8-DB89-6F66-58B4-BFBB88140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27CA-4787-4E8A-8EDE-E70148E1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5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8DC9C5-0BB0-8A23-9E47-4483133A1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3F5D7-8B4B-ACF4-8A77-F22F096E3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1EB38-A7BB-48B0-5837-A9BDE94B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B307A-1A34-FE59-44BE-6F951CD6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B3D6E-8979-CA83-8646-C23374B6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751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3F802-B541-2831-32B3-E30B770F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5B8C4-39C2-66F6-BF4E-15B7979FC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5E8FD-EF12-9F98-9A76-757ABFFFA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70E2C-AE0C-47F4-BCAA-F59DBEFB3CA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C0DA2-B04E-7D76-45D5-1465EAC34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A7232-8C01-B848-9D04-1B41875AF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B3765-765D-4027-8CB7-895BF7D71D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96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903E20-C7AA-E122-0EE3-112B46296B04}"/>
              </a:ext>
            </a:extLst>
          </p:cNvPr>
          <p:cNvSpPr txBox="1">
            <a:spLocks/>
          </p:cNvSpPr>
          <p:nvPr/>
        </p:nvSpPr>
        <p:spPr>
          <a:xfrm>
            <a:off x="126769" y="2386460"/>
            <a:ext cx="11776893" cy="18281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“From Caesar to Vigenère: The Evolution of Substitution Ciphers in Cryptography”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2D39638-1B03-D875-B2C8-4E160879E1FD}"/>
              </a:ext>
            </a:extLst>
          </p:cNvPr>
          <p:cNvSpPr txBox="1">
            <a:spLocks/>
          </p:cNvSpPr>
          <p:nvPr/>
        </p:nvSpPr>
        <p:spPr>
          <a:xfrm>
            <a:off x="8045922" y="5570498"/>
            <a:ext cx="4364192" cy="1496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T Sri Ram Chandu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           : 192412586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    : Dr Sudhagar D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369CF9-608D-8BF3-A2BB-98D7B5A6436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395502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C35DFD-1068-6944-3A0D-8BEECF3AE88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51" y="1016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Saveetha School of Engineering Leads Among Top 2 pc Indian Scientists in  Individual Study by Stanford University USA - BW Businessworld">
            <a:extLst>
              <a:ext uri="{FF2B5EF4-FFF2-40B4-BE49-F238E27FC236}">
                <a16:creationId xmlns:a16="http://schemas.microsoft.com/office/drawing/2014/main" id="{F9FBF880-1F94-CEBC-7E93-9CCE4B3524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63" t="30820" b="30820"/>
          <a:stretch>
            <a:fillRect/>
          </a:stretch>
        </p:blipFill>
        <p:spPr>
          <a:xfrm>
            <a:off x="1904300" y="10160"/>
            <a:ext cx="8221833" cy="13428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2A9B74-6178-374A-5D5C-BF357F2E262B}"/>
              </a:ext>
            </a:extLst>
          </p:cNvPr>
          <p:cNvSpPr txBox="1"/>
          <p:nvPr/>
        </p:nvSpPr>
        <p:spPr>
          <a:xfrm>
            <a:off x="275904" y="4307781"/>
            <a:ext cx="11903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CSA5116  - CRYPTOGRAPHY AND  NETWORK SECURITY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768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E41F42F-F2CC-7AEB-1774-5C4ED8680EE4}"/>
              </a:ext>
            </a:extLst>
          </p:cNvPr>
          <p:cNvSpPr txBox="1">
            <a:spLocks/>
          </p:cNvSpPr>
          <p:nvPr/>
        </p:nvSpPr>
        <p:spPr>
          <a:xfrm>
            <a:off x="3061982" y="233345"/>
            <a:ext cx="4160939" cy="890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4000"/>
              <a:t> </a:t>
            </a:r>
            <a:endParaRPr lang="en-IN" sz="4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A53B58-9072-9764-4757-6B79139B8C70}"/>
              </a:ext>
            </a:extLst>
          </p:cNvPr>
          <p:cNvSpPr txBox="1">
            <a:spLocks/>
          </p:cNvSpPr>
          <p:nvPr/>
        </p:nvSpPr>
        <p:spPr>
          <a:xfrm>
            <a:off x="12435" y="1353044"/>
            <a:ext cx="8605526" cy="4166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science of protecting information by converting readable data into a secret form called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classical encryption techniques that replace plaintext letters with other letters or symbols using a specific rule or key.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a simple shift-based approach, where each letter is replaced by another letter at a fixed position in the alphabet.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this concept by using multiple alphabetic shifts based on a keyword, making encryption significantly stronger than a simple Caesar shift.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B1093E-9F29-D7B5-39A9-1AD84CC69CD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395502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EAB7AD-8BAB-BE11-587D-F498719C48C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51" y="1016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Decoding Cryptography and Its Types in Cybersecurity">
            <a:extLst>
              <a:ext uri="{FF2B5EF4-FFF2-40B4-BE49-F238E27FC236}">
                <a16:creationId xmlns:a16="http://schemas.microsoft.com/office/drawing/2014/main" id="{0EC62A30-CED9-D54E-6E06-2F214CFA6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62" y="2861170"/>
            <a:ext cx="3566538" cy="399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79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75B843E-6F6E-5CD2-ABEB-049A4AB3E3A3}"/>
              </a:ext>
            </a:extLst>
          </p:cNvPr>
          <p:cNvSpPr txBox="1">
            <a:spLocks/>
          </p:cNvSpPr>
          <p:nvPr/>
        </p:nvSpPr>
        <p:spPr>
          <a:xfrm>
            <a:off x="3636614" y="115220"/>
            <a:ext cx="4781725" cy="8761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/>
              <a:t>CAESAR   CIPHER</a:t>
            </a:r>
            <a:endParaRPr lang="en-IN" sz="40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024549-5522-A767-6786-9710789ECBFD}"/>
              </a:ext>
            </a:extLst>
          </p:cNvPr>
          <p:cNvSpPr txBox="1">
            <a:spLocks/>
          </p:cNvSpPr>
          <p:nvPr/>
        </p:nvSpPr>
        <p:spPr>
          <a:xfrm>
            <a:off x="1" y="1437313"/>
            <a:ext cx="7164198" cy="354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Caesar Cipher?</a:t>
            </a:r>
          </a:p>
          <a:p>
            <a:endParaRPr lang="en-I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oldest and simplest substitution ciphers.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each letter with another letter using a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fixed shift value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same shift is applied to every letter in the message.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is named after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Julius Caesar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who reportedly used it for military communication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4EF928-0482-BA8C-C6FF-2156E72EC79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395502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1B60F1-1D79-0C8D-ADE9-F3A1B9158AD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51" y="1016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 is a Caesar Cipher? | IT Wiki | Proximity MFA for Shared Workstations  - GateKeeper Enterprise Solution">
            <a:extLst>
              <a:ext uri="{FF2B5EF4-FFF2-40B4-BE49-F238E27FC236}">
                <a16:creationId xmlns:a16="http://schemas.microsoft.com/office/drawing/2014/main" id="{B72D190D-5962-197E-A4AD-4E3946F8C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107" y="1610687"/>
            <a:ext cx="4781725" cy="377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0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C7DCBD-49CE-7977-6500-274C9E6A3CD1}"/>
              </a:ext>
            </a:extLst>
          </p:cNvPr>
          <p:cNvSpPr txBox="1">
            <a:spLocks/>
          </p:cNvSpPr>
          <p:nvPr/>
        </p:nvSpPr>
        <p:spPr>
          <a:xfrm>
            <a:off x="2424418" y="91337"/>
            <a:ext cx="7007604" cy="932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CAESAR CIPHER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9AEEE0-8A37-EAAA-84EA-BCE1D9706A5F}"/>
              </a:ext>
            </a:extLst>
          </p:cNvPr>
          <p:cNvSpPr txBox="1">
            <a:spLocks/>
          </p:cNvSpPr>
          <p:nvPr/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Why is Caesar Cipher Weak?</a:t>
            </a:r>
          </a:p>
          <a:p>
            <a:endParaRPr lang="en-IN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 Key Space: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Only </a:t>
            </a: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25 possible shifts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are available.</a:t>
            </a: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Easy Brute-Force Attack: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 attacker can simply try every possible shift.</a:t>
            </a: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Fixed Substitution: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Every letter is always replaced by the same letter.</a:t>
            </a: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Frequency Analysis: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Common letters and patterns can reveal the original message.</a:t>
            </a: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Patterns: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Repeated letters and words remain recognizable.</a:t>
            </a: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Low Security: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basic or historical communication, but </a:t>
            </a: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secure for modern applications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94966-A031-D3BF-8CD4-F664251F21B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395502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7804A5-9979-A660-74E6-3A30349A116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51" y="10160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253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B56689-33FD-F4AA-5DB6-8D68151986B6}"/>
              </a:ext>
            </a:extLst>
          </p:cNvPr>
          <p:cNvSpPr txBox="1">
            <a:spLocks/>
          </p:cNvSpPr>
          <p:nvPr/>
        </p:nvSpPr>
        <p:spPr>
          <a:xfrm>
            <a:off x="3429685" y="165554"/>
            <a:ext cx="5195582" cy="876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66E3FC-08FF-9471-5523-F5C0820DDBEE}"/>
              </a:ext>
            </a:extLst>
          </p:cNvPr>
          <p:cNvSpPr txBox="1">
            <a:spLocks/>
          </p:cNvSpPr>
          <p:nvPr/>
        </p:nvSpPr>
        <p:spPr>
          <a:xfrm>
            <a:off x="3487527" y="2698352"/>
            <a:ext cx="8471631" cy="4217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/>
              <a:t>What is Vigenère Cipher?</a:t>
            </a:r>
          </a:p>
          <a:p>
            <a:endParaRPr lang="en-IN" sz="1800"/>
          </a:p>
          <a:p>
            <a:r>
              <a:rPr lang="en-IN" sz="1800"/>
              <a:t>The Vigenère Cipher is a classical polyalphabetic substitution cipher.</a:t>
            </a:r>
          </a:p>
          <a:p>
            <a:r>
              <a:rPr lang="en-IN" sz="1800"/>
              <a:t>It was developed to overcome the weaknesses of the Caesar Cipher.</a:t>
            </a:r>
          </a:p>
          <a:p>
            <a:r>
              <a:rPr lang="en-IN" sz="1800"/>
              <a:t>Instead of using one fixed shift, it uses a keyword to determine different shifts.</a:t>
            </a:r>
          </a:p>
          <a:p>
            <a:r>
              <a:rPr lang="en-IN" sz="1800"/>
              <a:t>The same plaintext letter can be encrypted into different ciphertext letters.</a:t>
            </a:r>
          </a:p>
          <a:p>
            <a:r>
              <a:rPr lang="en-IN" sz="1800"/>
              <a:t>It uses a Vigenère Table (Tabula Recta) containing multiple Caesar-shifted alphabets.</a:t>
            </a:r>
          </a:p>
          <a:p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92CD06-B300-FFC2-99F3-A2D3380AA71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395502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12B89D-A566-ED0B-DAC3-BB3EA2DA629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51" y="10160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Vigenère cipher - Wikipedia">
            <a:extLst>
              <a:ext uri="{FF2B5EF4-FFF2-40B4-BE49-F238E27FC236}">
                <a16:creationId xmlns:a16="http://schemas.microsoft.com/office/drawing/2014/main" id="{CA966E6C-A29A-FCEB-1382-A7A519A86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" y="2367986"/>
            <a:ext cx="3475092" cy="449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40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77292F-514D-1C38-2437-A0D46321EB76}"/>
              </a:ext>
            </a:extLst>
          </p:cNvPr>
          <p:cNvSpPr txBox="1">
            <a:spLocks/>
          </p:cNvSpPr>
          <p:nvPr/>
        </p:nvSpPr>
        <p:spPr>
          <a:xfrm>
            <a:off x="1056272" y="303775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/>
              <a:t>CAESAR vs VIGENÈRE: THE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EVOLUTION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7">
            <a:extLst>
              <a:ext uri="{FF2B5EF4-FFF2-40B4-BE49-F238E27FC236}">
                <a16:creationId xmlns:a16="http://schemas.microsoft.com/office/drawing/2014/main" id="{4B83A978-37FD-9381-16F9-C7FE6FEBA8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900732"/>
              </p:ext>
            </p:extLst>
          </p:nvPr>
        </p:nvGraphicFramePr>
        <p:xfrm>
          <a:off x="1300294" y="2088859"/>
          <a:ext cx="9850852" cy="401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22510">
                  <a:extLst>
                    <a:ext uri="{9D8B030D-6E8A-4147-A177-3AD203B41FA5}">
                      <a16:colId xmlns:a16="http://schemas.microsoft.com/office/drawing/2014/main" val="1356470662"/>
                    </a:ext>
                  </a:extLst>
                </a:gridCol>
                <a:gridCol w="3314171">
                  <a:extLst>
                    <a:ext uri="{9D8B030D-6E8A-4147-A177-3AD203B41FA5}">
                      <a16:colId xmlns:a16="http://schemas.microsoft.com/office/drawing/2014/main" val="257535739"/>
                    </a:ext>
                  </a:extLst>
                </a:gridCol>
                <a:gridCol w="3314171">
                  <a:extLst>
                    <a:ext uri="{9D8B030D-6E8A-4147-A177-3AD203B41FA5}">
                      <a16:colId xmlns:a16="http://schemas.microsoft.com/office/drawing/2014/main" val="563922348"/>
                    </a:ext>
                  </a:extLst>
                </a:gridCol>
              </a:tblGrid>
              <a:tr h="50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Caesar Cipher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Vigenère Cipher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757773"/>
                  </a:ext>
                </a:extLst>
              </a:tr>
              <a:tr h="50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Cipher Type 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Monoalphabetic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Polyalphabetic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568104"/>
                  </a:ext>
                </a:extLst>
              </a:tr>
              <a:tr h="50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Key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Fixed shift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Keyword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097441"/>
                  </a:ext>
                </a:extLst>
              </a:tr>
              <a:tr h="50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Substitution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One alphabet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Multiple alphabets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199947"/>
                  </a:ext>
                </a:extLst>
              </a:tr>
              <a:tr h="50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Shift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Same for every letter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Changes based on key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113509"/>
                  </a:ext>
                </a:extLst>
              </a:tr>
              <a:tr h="50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Security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Higher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045307"/>
                  </a:ext>
                </a:extLst>
              </a:tr>
              <a:tr h="50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Brute-Force Resistance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Very low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Higher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97901"/>
                  </a:ext>
                </a:extLst>
              </a:tr>
              <a:tr h="50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Main Weakness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Easy to break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More complex to </a:t>
                      </a:r>
                      <a:r>
                        <a:rPr lang="en-IN" dirty="0" err="1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analyze</a:t>
                      </a:r>
                      <a:endParaRPr lang="en-IN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19864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3894613-7E43-E933-975E-08FC06EC090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395502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5737FA-1694-80EC-708A-B4565382BCC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51" y="10160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610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9EAAF0-9894-EEB2-1226-3BA55F114DD4}"/>
              </a:ext>
            </a:extLst>
          </p:cNvPr>
          <p:cNvSpPr txBox="1">
            <a:spLocks/>
          </p:cNvSpPr>
          <p:nvPr/>
        </p:nvSpPr>
        <p:spPr>
          <a:xfrm>
            <a:off x="4291321" y="359180"/>
            <a:ext cx="3609358" cy="876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A4AA61-F57E-72B1-60DC-090AD0D73FFC}"/>
              </a:ext>
            </a:extLst>
          </p:cNvPr>
          <p:cNvSpPr txBox="1">
            <a:spLocks/>
          </p:cNvSpPr>
          <p:nvPr/>
        </p:nvSpPr>
        <p:spPr>
          <a:xfrm>
            <a:off x="1226372" y="2049105"/>
            <a:ext cx="8647470" cy="3879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  :</a:t>
            </a: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a simple method of encryption using a fixed alphabetic shift.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limited key space and predictable patterns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made it easy to break.</a:t>
            </a: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improved security by using a </a:t>
            </a: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keyword and multiple substitution alphabets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from Caesar to Vigenère shows the </a:t>
            </a: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substitution ciphers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toward stronger encryption.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These classical techniques helped establish important concepts used in the development of </a:t>
            </a: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modern cryptography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FFF08-5854-EB96-28BD-0E5F2C8F361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395502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2FDB53-7A85-6E0F-DC02-BF3E0CF5269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51" y="10160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379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est Thank You Slide for PowerPoint and Google Slides - PPT Slides">
            <a:extLst>
              <a:ext uri="{FF2B5EF4-FFF2-40B4-BE49-F238E27FC236}">
                <a16:creationId xmlns:a16="http://schemas.microsoft.com/office/drawing/2014/main" id="{40C54E7B-F553-C71A-114F-020A262FB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4"/>
            <a:ext cx="12192000" cy="685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0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473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sriramchandutanniru9@hotmail.com</dc:creator>
  <cp:lastModifiedBy>sriramchandutanniru9@hotmail.com</cp:lastModifiedBy>
  <cp:revision>1</cp:revision>
  <dcterms:created xsi:type="dcterms:W3CDTF">2026-10-10T06:58:48Z</dcterms:created>
  <dcterms:modified xsi:type="dcterms:W3CDTF">2026-10-10T07:13:12Z</dcterms:modified>
</cp:coreProperties>
</file>